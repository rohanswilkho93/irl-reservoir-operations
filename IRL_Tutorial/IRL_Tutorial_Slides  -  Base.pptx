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595917-983A-4E9D-B007-D40053201091}" v="3" dt="2026-06-17T17:21:33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1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19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TUTORIAL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0" y="-274320"/>
            <a:ext cx="2194560" cy="2194560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822960"/>
            <a:ext cx="1828800" cy="182880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1645920" cy="16459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0" y="2194560"/>
            <a:ext cx="1371600" cy="1371600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69275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They Optimizing For? Inverse Reinforcement Learning for Inferring Hidden Objectives from Observed Decisions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554877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June 23, 2026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AIMS 2026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</a:rPr>
              <a:t>University of California, San Diago</a:t>
            </a:r>
            <a:endParaRPr lang="en-US" sz="16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C010141-2486-F1E4-9CCD-C5E284D12C6D}"/>
              </a:ext>
            </a:extLst>
          </p:cNvPr>
          <p:cNvSpPr/>
          <p:nvPr/>
        </p:nvSpPr>
        <p:spPr>
          <a:xfrm>
            <a:off x="365760" y="35661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 Singh Wilkho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Schmidt AI in Science Postdoctoral Associate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Cornell University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Objective Problem</a:t>
            </a:r>
            <a:endParaRPr lang="en-US" sz="3600" dirty="0">
              <a:solidFill>
                <a:srgbClr val="00E5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183821"/>
            <a:ext cx="8242663" cy="2775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optimization problem needs an objective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Networks: Minimize loss function (e.g. Binary Cross Entropy)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Traveling Salesman: Minimize total distance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chain: Minimize cost subject to demand constraints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optimization problems: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driving: Safety v/s Speed v/s Comfort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treatment: physician’s implicit treatment v/s side-effect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Dams: Flood Control v/s Water Supply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Reinforcement Learning – a principled framework for learning from observed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Hidden Objectives Live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" y="1078992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691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driver's implicit safety/speed/comfort tradeoff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10912" y="1078992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10912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Treatment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10912" y="1691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Physician's implicit treatment vs. side-effect balance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0352" y="2999232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Manipulation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" y="3611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Demonstrator's implicit speed-vs-gentleness objective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10912" y="2999232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10912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Operations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10912" y="3611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Operator's implicit flood/supply/ecology/hydro balance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Spectrum of Imitation Methods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2D2300"/>
          </a:solidFill>
          <a:ln w="25400">
            <a:solidFill>
              <a:srgbClr val="FBBF24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Cloning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" y="17830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Data → Policy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the WHAT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E1535"/>
          </a:solidFill>
          <a:ln w="25400">
            <a:solidFill>
              <a:srgbClr val="A78BF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47288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IRL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47288" y="17830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Reward → [Solve RL] → Policy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47288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inner loop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001E26"/>
          </a:solidFill>
          <a:ln w="25400">
            <a:solidFill>
              <a:srgbClr val="00E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19088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IQ-Learn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19088" y="17830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Q-function → Policy + Reward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088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gradient step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22860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0" y="22860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Cloning: Copy the Expert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learning: state → action. Mimic the expert.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6596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tasks, forgiving environments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Compounding error — one mistake → unseen states → cascade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generalization — memorized moves, not strategy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memorizing chess games — you can replay, but can't play.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Divergence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783080"/>
            <a:ext cx="2743200" cy="0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783080"/>
            <a:ext cx="2743200" cy="155448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0" y="3017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Path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43016" y="1682496"/>
            <a:ext cx="201168" cy="201168"/>
          </a:xfrm>
          <a:prstGeom prst="ellipse">
            <a:avLst/>
          </a:prstGeom>
          <a:solidFill>
            <a:srgbClr val="E6EDF3"/>
          </a:solidFill>
          <a:ln w="12700">
            <a:solidFill>
              <a:srgbClr val="E6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0" y="2011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21040" y="1783080"/>
            <a:ext cx="0" cy="1280160"/>
          </a:xfrm>
          <a:prstGeom prst="line">
            <a:avLst/>
          </a:prstGeom>
          <a:noFill/>
          <a:ln w="12700">
            <a:solidFill>
              <a:srgbClr val="F8717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27889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IRL: Recover the Objective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80160" y="1371600"/>
            <a:ext cx="6583680" cy="2103120"/>
          </a:xfrm>
          <a:prstGeom prst="roundRect">
            <a:avLst>
              <a:gd name="adj" fmla="val 5217"/>
            </a:avLst>
          </a:prstGeom>
          <a:solidFill>
            <a:srgbClr val="1C2128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Learning Loop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87452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31720" y="19659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reward guess: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entire MDP from scratch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4884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objective — can explain AND generalize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977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2D0A0A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0416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Inner RL loop is PROHIBITIVELY EXPENSIVE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IQ-Learn: One Step, Everything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80160" y="118872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001E26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r(s, a)  =  Q(s, a)  −  γ · V(s')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Q-function implicitly encodes the reward. No inner loop.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001E26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907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310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expert demos needed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001E26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2907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Reward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310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&amp; visualizable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28346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001E26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2907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3310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· Atari · Infrastructure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754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 et al., NeurIPS 2021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01A20"/>
          </a:solidFill>
          <a:ln w="12700">
            <a:solidFill>
              <a:srgbClr val="001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the Garrison Dam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23317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6,939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decisions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309360" y="3337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variables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River · North Dakota · No rulebook. Just data.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Expert's Complete Record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91440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0" y="914400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987552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84832" y="987552"/>
            <a:ext cx="1453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30752" y="987552"/>
            <a:ext cx="1179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Role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26464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1426464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0" y="1426464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" y="149961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1499616"/>
            <a:ext cx="1453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30752" y="1499616"/>
            <a:ext cx="1179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index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938528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1938528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0" y="1938528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2011680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(Mm3)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84832" y="2011680"/>
            <a:ext cx="1453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volume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30752" y="2011680"/>
            <a:ext cx="1179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s_t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450592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11680" y="2450592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0" y="2450592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3192" y="2523744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net_inflow (m3/s)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84832" y="2523744"/>
            <a:ext cx="1453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input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30752" y="2523744"/>
            <a:ext cx="1179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s_t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962656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011680" y="2962656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0" y="2962656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" y="3035808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(m3/s)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84832" y="3035808"/>
            <a:ext cx="1453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discharged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30752" y="3035808"/>
            <a:ext cx="1179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a_t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Release (2001-2019)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2651760"/>
            <a:ext cx="4114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97880" y="2148840"/>
            <a:ext cx="411480" cy="32004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09360" y="2468880"/>
            <a:ext cx="4114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720840" y="1920240"/>
            <a:ext cx="411480" cy="41148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32320" y="2331720"/>
            <a:ext cx="4114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543800" y="1874520"/>
            <a:ext cx="411480" cy="36576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955280" y="2240280"/>
            <a:ext cx="4114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366760" y="2057400"/>
            <a:ext cx="182880" cy="32004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86400" y="3749040"/>
            <a:ext cx="4114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97880" y="3246120"/>
            <a:ext cx="411480" cy="5943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09360" y="3840480"/>
            <a:ext cx="4114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20840" y="3108960"/>
            <a:ext cx="411480" cy="5943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132320" y="3703320"/>
            <a:ext cx="4114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543800" y="3337560"/>
            <a:ext cx="411480" cy="54864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955280" y="3886200"/>
            <a:ext cx="4114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366760" y="3429000"/>
            <a:ext cx="182880" cy="32004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394960" y="4160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138160" y="4160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66560" y="4160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0" y="1417320"/>
            <a:ext cx="36576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897880" y="13167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949440" y="1417320"/>
            <a:ext cx="36576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360920" y="13167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004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reward column. That's what IQ-Learn discovers.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as a Markov Decision Process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502920" cy="5029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10332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s_t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[storage, net_inflow, sin_month, cos_month]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50408" y="10332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a_t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release — normalized to [0,1], 20 discrete bins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862072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8895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r_t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50215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 — This is what IQ-Learn uncovers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724912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37760" y="2862072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50408" y="28895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50215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S_{t+1} = S_t + (inflow - release) * dt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algorithm needs the reward column filled in. IQ-Learn works without it.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Policy: A Distribution Over Releases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State (dim=4)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23160" y="1252728"/>
            <a:ext cx="0" cy="5486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07592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256 + ReLU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691640"/>
            <a:ext cx="0" cy="5486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922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256 + ReLU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130552"/>
            <a:ext cx="0" cy="5486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185416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256 + ReLU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2569464"/>
            <a:ext cx="0" cy="5486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624328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6700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256 + ReLU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3008376"/>
            <a:ext cx="0" cy="5486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20 logits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3447288"/>
            <a:ext cx="0" cy="5486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502152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5478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23160" y="3886200"/>
            <a:ext cx="0" cy="5486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941064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98678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bin probabilities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3160" y="4325112"/>
            <a:ext cx="0" cy="54864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bins, not a Gaussian?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13258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releases are highly skewed — most days near zero, rare flood events very high.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1965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averages this out. Bins handle it naturally.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4688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E[a|s] = sum_k p_k * bin_mean_k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0" y="3566160"/>
            <a:ext cx="347472" cy="1097280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22392" y="3807562"/>
            <a:ext cx="347472" cy="855878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15584" y="4005072"/>
            <a:ext cx="347472" cy="658368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08776" y="4169664"/>
            <a:ext cx="347472" cy="493776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01968" y="4279392"/>
            <a:ext cx="347472" cy="384048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95160" y="4378147"/>
            <a:ext cx="347472" cy="285293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88352" y="4465930"/>
            <a:ext cx="347472" cy="197510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781544" y="4531766"/>
            <a:ext cx="347472" cy="131674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4754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BC: Good in Theory, Brittle in Practice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001A09"/>
          </a:solidFill>
          <a:ln w="25400">
            <a:solidFill>
              <a:srgbClr val="34D399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Prediction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accurately predicts the expert's next action one step at a 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great!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87952" y="2011680"/>
            <a:ext cx="777240" cy="77724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87952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91440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1C0505"/>
          </a:solidFill>
          <a:ln w="25400">
            <a:solidFill>
              <a:srgbClr val="F87171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Rollout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508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Drifts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120640" y="23317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mistake → unseen state → worse mistake → compounding spiral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over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Memorizes MOVES. Doesn't learn STRATEGY.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Critic: Q(s,a) as Implicit Reward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001E26"/>
          </a:solidFill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87552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Q(s, a) = How good is this decision?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 → Expert approves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Q → Expert rejects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3108960"/>
            <a:ext cx="4114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Q-networks (Q1, Q2)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547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min(Q1, Q2) for pessimistic estimation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 rot="16200000">
            <a:off x="4754880" y="914400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3474720"/>
            <a:ext cx="292608" cy="457200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86984" y="2903220"/>
            <a:ext cx="292608" cy="1028700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16168" y="2286000"/>
            <a:ext cx="292608" cy="1645920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45352" y="1874520"/>
            <a:ext cx="292608" cy="2057400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74536" y="1645920"/>
            <a:ext cx="292608" cy="2286000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292608" cy="2103120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32904" y="2286000"/>
            <a:ext cx="292608" cy="1645920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62088" y="2903220"/>
            <a:ext cx="292608" cy="1028700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91272" y="3429000"/>
            <a:ext cx="292608" cy="502920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0456" y="3703320"/>
            <a:ext cx="292608" cy="228600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7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Expert's release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20840" y="1417320"/>
            <a:ext cx="0" cy="2514600"/>
          </a:xfrm>
          <a:prstGeom prst="line">
            <a:avLst/>
          </a:prstGeom>
          <a:noFill/>
          <a:ln w="12700">
            <a:solidFill>
              <a:srgbClr val="FF79C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425196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001E26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2793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Q-function IS the reward. No separate reward network needed.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IQ-Learn Loss: Four Terms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01E26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Expert Reward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-E[r]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implied reward for expert 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86868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1E1535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Value Telescoping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+E[V - γV']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Bellman consistency across timesteps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2D2300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606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χ² Regularization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+(1/4α)·E[r²]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3611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reward from growing unbounded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51460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01A09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606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Q Magnitude Penalty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017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+λ·E[Q²]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3611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Q-values numerically stable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001E26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4187952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-E[r] + E[V-γV'] + (1/4α)E[r²] + λE[Q²]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Flow: The Critical Detail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LOSS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C0505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14813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 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001A0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35000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23500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FLOWS  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182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Critic parameters update here.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LOSS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001A0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4813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4813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FLOWS  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C0505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235000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3500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 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182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Actor parameters update here.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914400"/>
            <a:ext cx="0" cy="283464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2D2300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82219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these up → one network NEVER learns.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Acid Test: Physics-in-the-Loop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80160" y="1005840"/>
            <a:ext cx="6583680" cy="1234440"/>
          </a:xfrm>
          <a:prstGeom prst="roundRect">
            <a:avLst>
              <a:gd name="adj" fmla="val 8889"/>
            </a:avLst>
          </a:prstGeom>
          <a:solidFill>
            <a:srgbClr val="001E26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17320" y="107899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S_{t+1} = S_t + (inflow_t - release_t) * dt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764792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Balance Equation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2D2300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6334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09067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transitions. Predict next action from current state.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0" y="251460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001E26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66360" y="26334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Phase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309067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closed-loop. Policy feeds its OWN output back as input.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policy drifts over 3 years of unseen data, it has not truly learned.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Showdown: Closed-Loop Performance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1C0505"/>
          </a:solidFill>
          <a:ln w="25400">
            <a:solidFill>
              <a:srgbClr val="FBBF24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Cloning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r = 0.61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 r = 0.43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 after ~6 months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Memorizes moves. Doesn't generalize.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2331720"/>
            <a:ext cx="822960" cy="82296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6052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91440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001A09"/>
          </a:solidFill>
          <a:ln w="25400">
            <a:solidFill>
              <a:srgbClr val="00E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0" y="1024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IQ-Learn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15544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r = 0.91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22860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 r = 0.84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064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for 3+ years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3429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WHY. Generalizes.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is more robust than copying WHAT.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the Machine Learn?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IQ-Learn discovered a seasonally-varying multi-objective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reservoir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3591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releases, high storage priority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control, upcoming demand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2344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2984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releases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23591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releases favored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017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+ hydropower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2344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2984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drawdown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3591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releases preferred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017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for snowmelt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2344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12984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23591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releases strongly favored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3017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demand, ice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NEVER wrote this down. IQ-Learn inferred it from 18 years of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Explainability: What Features Drive Decisions?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— Release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777240" cy="1737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63040" y="1811383"/>
            <a:ext cx="777240" cy="1571897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17320" y="1555351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3429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31720" y="2886891"/>
            <a:ext cx="777240" cy="496389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2630859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3429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sin_mo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0" y="3052354"/>
            <a:ext cx="777240" cy="33092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54680" y="279632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54680" y="3429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cos_mo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— Reward Assessment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74920" y="1645920"/>
            <a:ext cx="777240" cy="17373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138988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3429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0" y="2032000"/>
            <a:ext cx="777240" cy="1351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97880" y="1775968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97880" y="3429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12280" y="2881376"/>
            <a:ext cx="777240" cy="5019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262534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3429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sin_mo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80960" y="3113024"/>
            <a:ext cx="777240" cy="27025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35240" y="285699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35240" y="3429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cos_mo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40233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001A0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0416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Spring: INFLOW dominates — flood risk awareness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40233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2D230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40416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Summer: STORAGE dominates — supply management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seasonal shift was never programmed — it emerged from 18 years of expert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554480" cy="3063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005840"/>
            <a:ext cx="548640" cy="5486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7472" y="166420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Unexpressed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23774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Surgeons, pilots, operators — objectives are implicit. IRL makes them explicit.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914400"/>
            <a:ext cx="1554480" cy="3063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548640" cy="5486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93392" y="166420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93392" y="23774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memorizes; IRL generalizes because it captures the WHY.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914400"/>
            <a:ext cx="1554480" cy="3063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69080" y="1005840"/>
            <a:ext cx="548640" cy="5486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6908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39312" y="166420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is Now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39312" y="23774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pass, offline data, no inner RL loop. Runs on a laptop.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914400"/>
            <a:ext cx="1554480" cy="3063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15000" y="1005840"/>
            <a:ext cx="548640" cy="5486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85232" y="166420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85232" y="23774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function is the scientific insight — not just the policy.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914400"/>
            <a:ext cx="1554480" cy="3063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60920" y="1005840"/>
            <a:ext cx="548640" cy="5486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6092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31152" y="166420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Agnostic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31152" y="23774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dam data for driving, clinical, or robotics. Same pipeline.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01E26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418795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 doesn't change. Only the data does.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B57F786A503243804A287E60D3780A" ma:contentTypeVersion="13" ma:contentTypeDescription="Create a new document." ma:contentTypeScope="" ma:versionID="7b37b8128a0e9c8c1affeca7684ab171">
  <xsd:schema xmlns:xsd="http://www.w3.org/2001/XMLSchema" xmlns:xs="http://www.w3.org/2001/XMLSchema" xmlns:p="http://schemas.microsoft.com/office/2006/metadata/properties" xmlns:ns3="db69bd1f-05ed-41f2-9c3c-c679d8b7c1fa" targetNamespace="http://schemas.microsoft.com/office/2006/metadata/properties" ma:root="true" ma:fieldsID="678d60886c6a3b1dc7f1646a4d862d35" ns3:_="">
    <xsd:import namespace="db69bd1f-05ed-41f2-9c3c-c679d8b7c1f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69bd1f-05ed-41f2-9c3c-c679d8b7c1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69bd1f-05ed-41f2-9c3c-c679d8b7c1fa" xsi:nil="true"/>
  </documentManagement>
</p:properties>
</file>

<file path=customXml/itemProps1.xml><?xml version="1.0" encoding="utf-8"?>
<ds:datastoreItem xmlns:ds="http://schemas.openxmlformats.org/officeDocument/2006/customXml" ds:itemID="{5507EDBF-4086-4822-859C-6F314C1B68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69bd1f-05ed-41f2-9c3c-c679d8b7c1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A93ABD-FA16-4EA1-B759-FCF4A523A6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405900-0EA2-46B0-BABD-A86089415DB3}">
  <ds:schemaRefs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db69bd1f-05ed-41f2-9c3c-c679d8b7c1fa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1341</Words>
  <Application>Microsoft Office PowerPoint</Application>
  <PresentationFormat>On-screen Show (16:9)</PresentationFormat>
  <Paragraphs>294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Wilkho, Rohan Singh</cp:lastModifiedBy>
  <cp:revision>3</cp:revision>
  <dcterms:created xsi:type="dcterms:W3CDTF">2026-06-17T14:57:16Z</dcterms:created>
  <dcterms:modified xsi:type="dcterms:W3CDTF">2026-06-17T17:21:33Z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0x0101002AB57F786A503243804A287E60D3780A</vt:lpwstr>
  </property>
</Properties>
</file>